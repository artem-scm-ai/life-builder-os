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2606040"/>
            <a:ext cx="10671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>
                <a:solidFill>
                  <a:srgbClr val="FFFFFF"/>
                </a:solidFill>
                <a:latin typeface="Inter"/>
              </a:rPr>
              <a:t>SCAIT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3520440"/>
            <a:ext cx="106710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1D5DB"/>
                </a:solidFill>
                <a:latin typeface="Inter"/>
              </a:rPr>
              <a:t>Supply Chain Artificial Intelligence Technologies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2514600"/>
            <a:ext cx="10671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Inter"/>
              </a:rPr>
              <a:t>If your team is drowning in the 'Manual Trap'.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3474720"/>
            <a:ext cx="10671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Inter"/>
              </a:rPr>
              <a:t>70%</a:t>
            </a:r>
            <a:r>
              <a:rPr sz="1600" b="0">
                <a:solidFill>
                  <a:srgbClr val="D1D5DB"/>
                </a:solidFill>
                <a:latin typeface="Inter"/>
              </a:rPr>
              <a:t> of Senior Management's time is wasted on manual Excel updates and messaging apps. This isn't leadership; it's firefighting.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0D13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952" y="2423160"/>
            <a:ext cx="515264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Inter"/>
              </a:rPr>
              <a:t>You are losing money in invisible gaps.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3749040"/>
            <a:ext cx="51526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1D5DB"/>
                </a:solidFill>
                <a:latin typeface="Inter"/>
              </a:rPr>
              <a:t>3PL overcharges, supplier price creep, and quality deviations erode up to 5% of your net margin. If you aren't auditing 100% of your data, you are overpaying.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2011680"/>
            <a:ext cx="10671048" cy="2606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Inter"/>
              </a:rPr>
              <a:t>SCAIT</a:t>
            </a:r>
          </a:p>
          <a:p>
            <a:pPr algn="ctr"/>
            <a:r>
              <a:rPr sz="5200" b="1">
                <a:solidFill>
                  <a:srgbClr val="FFFFFF"/>
                </a:solidFill>
                <a:latin typeface="Inter"/>
              </a:rPr>
              <a:t>One Architecture.</a:t>
            </a:r>
          </a:p>
          <a:p>
            <a:pPr algn="ctr"/>
            <a:r>
              <a:rPr sz="5200" b="1">
                <a:solidFill>
                  <a:srgbClr val="FFFFFF"/>
                </a:solidFill>
                <a:latin typeface="Inter"/>
              </a:rPr>
              <a:t>Zero Friction.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4434840"/>
            <a:ext cx="10671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1D5DB"/>
                </a:solidFill>
                <a:latin typeface="Inter"/>
              </a:rPr>
              <a:t>We don't just provide software. We deploy an autonomous intelligence layer that sees, analyzes, and acts on your behalf.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710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Inter"/>
              </a:rPr>
              <a:t>Layer 1: Planning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289304"/>
            <a:ext cx="10671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Inter"/>
              </a:rPr>
              <a:t>Strategic Core: Real-time control over inventory and risks.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783080"/>
            <a:ext cx="5221224" cy="4663440"/>
          </a:xfrm>
          <a:prstGeom prst="roundRect">
            <a:avLst>
              <a:gd name="adj" fmla="val 5000"/>
            </a:avLst>
          </a:prstGeom>
          <a:solidFill>
            <a:srgbClr val="1E2A35"/>
          </a:solidFill>
          <a:ln w="9525">
            <a:solidFill>
              <a:srgbClr val="263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" y="2039112"/>
            <a:ext cx="329184" cy="329184"/>
          </a:xfrm>
          <a:prstGeom prst="ellipse">
            <a:avLst/>
          </a:prstGeom>
          <a:solidFill>
            <a:srgbClr val="2D7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496312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"/>
              </a:rPr>
              <a:t>Demand vs Plan Deviation 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2898648"/>
            <a:ext cx="4709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</a:rPr>
              <a:t>Automated tracking of gaps between Sales Forecasts and Supply Plans. Instant alerts when deviations exceed 5% of target KPIs. Prevention of Stock-outs and capital tied up in Overstock.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1783080"/>
            <a:ext cx="5221224" cy="4663440"/>
          </a:xfrm>
          <a:prstGeom prst="roundRect">
            <a:avLst>
              <a:gd name="adj" fmla="val 5000"/>
            </a:avLst>
          </a:prstGeom>
          <a:solidFill>
            <a:srgbClr val="1E2A35"/>
          </a:solidFill>
          <a:ln w="9525">
            <a:solidFill>
              <a:srgbClr val="263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4808" y="2039112"/>
            <a:ext cx="329184" cy="329184"/>
          </a:xfrm>
          <a:prstGeom prst="ellipse">
            <a:avLst/>
          </a:prstGeom>
          <a:solidFill>
            <a:srgbClr val="2D7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2496312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"/>
              </a:rPr>
              <a:t>Exception Management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898648"/>
            <a:ext cx="4709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</a:rPr>
              <a:t>A single 'Control Tower' for all critical events (delays, defects, price changes). AI-driven prioritization of issues based on their financial impact on P&amp;L.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710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Inter"/>
              </a:rPr>
              <a:t>Layer 2: Procurement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289304"/>
            <a:ext cx="10671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Inter"/>
              </a:rPr>
              <a:t>Operational Core: Eliminating the manual follow-up loop.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783080"/>
            <a:ext cx="5221224" cy="4663440"/>
          </a:xfrm>
          <a:prstGeom prst="roundRect">
            <a:avLst>
              <a:gd name="adj" fmla="val 5000"/>
            </a:avLst>
          </a:prstGeom>
          <a:solidFill>
            <a:srgbClr val="1E2A35"/>
          </a:solidFill>
          <a:ln w="9525">
            <a:solidFill>
              <a:srgbClr val="263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" y="2039112"/>
            <a:ext cx="329184" cy="329184"/>
          </a:xfrm>
          <a:prstGeom prst="ellipse">
            <a:avLst/>
          </a:prstGeom>
          <a:solidFill>
            <a:srgbClr val="2D7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496312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"/>
              </a:rPr>
              <a:t>Supplier Communication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2898648"/>
            <a:ext cx="4709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</a:rPr>
              <a:t>24/7 autonomous correspondence with factories regarding statuses and docs. Saves 70% of Procurement's time by automating the routine follow-up.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1783080"/>
            <a:ext cx="5221224" cy="4663440"/>
          </a:xfrm>
          <a:prstGeom prst="roundRect">
            <a:avLst>
              <a:gd name="adj" fmla="val 5000"/>
            </a:avLst>
          </a:prstGeom>
          <a:solidFill>
            <a:srgbClr val="1E2A35"/>
          </a:solidFill>
          <a:ln w="9525">
            <a:solidFill>
              <a:srgbClr val="263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4808" y="2039112"/>
            <a:ext cx="329184" cy="329184"/>
          </a:xfrm>
          <a:prstGeom prst="ellipse">
            <a:avLst/>
          </a:prstGeom>
          <a:solidFill>
            <a:srgbClr val="2D7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2496312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"/>
              </a:rPr>
              <a:t>AI Product Spec &amp; Inspection Generator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898648"/>
            <a:ext cx="4709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</a:rPr>
              <a:t>Instant generation of technical Tech Packs and Inspection Sheets. Standardization of quality requirements to eliminate production errors.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710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Inter"/>
              </a:rPr>
              <a:t>Layer 2: Quality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289304"/>
            <a:ext cx="10671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Inter"/>
              </a:rPr>
              <a:t>Security Core: Guarding the 'Golden Standard.'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783080"/>
            <a:ext cx="5221224" cy="4663440"/>
          </a:xfrm>
          <a:prstGeom prst="roundRect">
            <a:avLst>
              <a:gd name="adj" fmla="val 5000"/>
            </a:avLst>
          </a:prstGeom>
          <a:solidFill>
            <a:srgbClr val="1E2A35"/>
          </a:solidFill>
          <a:ln w="9525">
            <a:solidFill>
              <a:srgbClr val="263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" y="2039112"/>
            <a:ext cx="329184" cy="329184"/>
          </a:xfrm>
          <a:prstGeom prst="ellipse">
            <a:avLst/>
          </a:prstGeom>
          <a:solidFill>
            <a:srgbClr val="2D7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496312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"/>
              </a:rPr>
              <a:t>AI Quality Inspection Validation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2898648"/>
            <a:ext cx="4709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</a:rPr>
              <a:t>Automated verification of inspector reports to detect fraud or errors. Instant Pass/Fail verdicts based on AI analysis of photos and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1783080"/>
            <a:ext cx="5221224" cy="4663440"/>
          </a:xfrm>
          <a:prstGeom prst="roundRect">
            <a:avLst>
              <a:gd name="adj" fmla="val 5000"/>
            </a:avLst>
          </a:prstGeom>
          <a:solidFill>
            <a:srgbClr val="1E2A35"/>
          </a:solidFill>
          <a:ln w="9525">
            <a:solidFill>
              <a:srgbClr val="263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4808" y="2039112"/>
            <a:ext cx="329184" cy="329184"/>
          </a:xfrm>
          <a:prstGeom prst="ellipse">
            <a:avLst/>
          </a:prstGeom>
          <a:solidFill>
            <a:srgbClr val="2D7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2496312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"/>
              </a:rPr>
              <a:t>AI Inspection Report Processor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898648"/>
            <a:ext cx="4709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</a:rPr>
              <a:t>Digitizes unstructured PDF/Excel and QC photos reports into a searchable database. Predictive analytics to identify defect trends per supplier.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710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Inter"/>
              </a:rPr>
              <a:t>Layer 3: Logistics &amp;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289304"/>
            <a:ext cx="10671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Inter"/>
              </a:rPr>
              <a:t>Movement Core: Total visibility of the floating capital.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783080"/>
            <a:ext cx="10671048" cy="4663440"/>
          </a:xfrm>
          <a:prstGeom prst="roundRect">
            <a:avLst>
              <a:gd name="adj" fmla="val 5000"/>
            </a:avLst>
          </a:prstGeom>
          <a:solidFill>
            <a:srgbClr val="1E2A35"/>
          </a:solidFill>
          <a:ln w="9525">
            <a:solidFill>
              <a:srgbClr val="263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" y="2039112"/>
            <a:ext cx="329184" cy="329184"/>
          </a:xfrm>
          <a:prstGeom prst="ellipse">
            <a:avLst/>
          </a:prstGeom>
          <a:solidFill>
            <a:srgbClr val="2D7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496312"/>
            <a:ext cx="10158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"/>
              </a:rPr>
              <a:t>Forwarder Communication &amp; Shipment Tracker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2898648"/>
            <a:ext cx="10158984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</a:rPr>
              <a:t>Real-time container tracking via carrier APIs (No manual checks). Automated ETA/ETD updates and document synchronization with forwarders. AI-driven rescheduling scenarios for port delays or route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7104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Inter"/>
              </a:rPr>
              <a:t>Layer 4: Financial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289304"/>
            <a:ext cx="10671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1D5DB"/>
                </a:solidFill>
                <a:latin typeface="Inter"/>
              </a:rPr>
              <a:t>Profit Core: The ROI Center.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8952" y="1783080"/>
            <a:ext cx="5221224" cy="4663440"/>
          </a:xfrm>
          <a:prstGeom prst="roundRect">
            <a:avLst>
              <a:gd name="adj" fmla="val 5000"/>
            </a:avLst>
          </a:prstGeom>
          <a:solidFill>
            <a:srgbClr val="1E2A35"/>
          </a:solidFill>
          <a:ln w="9525">
            <a:solidFill>
              <a:srgbClr val="263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" y="2039112"/>
            <a:ext cx="329184" cy="329184"/>
          </a:xfrm>
          <a:prstGeom prst="ellipse">
            <a:avLst/>
          </a:prstGeom>
          <a:solidFill>
            <a:srgbClr val="2D7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496312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"/>
              </a:rPr>
              <a:t>Supplier Invoice Validation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2898648"/>
            <a:ext cx="4709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</a:rPr>
              <a:t>Instant cross-check of Invoices vs. POs (price, quantity, terms). Detection of hidden surcharges or unauthorized price hikes.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8776" y="1783080"/>
            <a:ext cx="5221224" cy="4663440"/>
          </a:xfrm>
          <a:prstGeom prst="roundRect">
            <a:avLst>
              <a:gd name="adj" fmla="val 5000"/>
            </a:avLst>
          </a:prstGeom>
          <a:solidFill>
            <a:srgbClr val="1E2A35"/>
          </a:solidFill>
          <a:ln w="9525">
            <a:solidFill>
              <a:srgbClr val="2633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4808" y="2039112"/>
            <a:ext cx="329184" cy="329184"/>
          </a:xfrm>
          <a:prstGeom prst="ellipse">
            <a:avLst/>
          </a:prstGeom>
          <a:solidFill>
            <a:srgbClr val="2D7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2496312"/>
            <a:ext cx="4709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Inter"/>
              </a:rPr>
              <a:t>3PL Invoice &amp; Cost Validation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898648"/>
            <a:ext cx="4709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CA3AF"/>
                </a:solidFill>
                <a:latin typeface="Inter"/>
              </a:rPr>
              <a:t>Deep audit of warehouse and last-mile billing (DIM weight, picking, storage). Direct EBITDA impact through automated recovery of overcharges.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576072"/>
            <a:ext cx="10671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Inter"/>
              </a:rPr>
              <a:t>A Unified Neural Network for your Supply Chain.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170432"/>
            <a:ext cx="106710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1D5DB"/>
                </a:solidFill>
                <a:latin typeface="Inter"/>
              </a:rPr>
              <a:t>Every Layer feeds the next. Financial data validates Logistics, Quality data refines Procurement. Seamless API integration with your existing ERP/WMS.</a:t>
            </a:r>
          </a:p>
        </p:txBody>
      </p:sp>
      <p:sp>
        <p:nvSpPr>
          <p:cNvPr id="4" name="Oval 3"/>
          <p:cNvSpPr/>
          <p:nvPr/>
        </p:nvSpPr>
        <p:spPr>
          <a:xfrm>
            <a:off x="5225796" y="3602736"/>
            <a:ext cx="17373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25796" y="3694176"/>
            <a:ext cx="1737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31921"/>
                </a:solidFill>
                <a:latin typeface="Inter"/>
              </a:rPr>
              <a:t>SCAIT</a:t>
            </a:r>
          </a:p>
          <a:p>
            <a:pPr algn="ctr"/>
            <a:r>
              <a:rPr sz="1400" b="1">
                <a:solidFill>
                  <a:srgbClr val="131921"/>
                </a:solidFill>
                <a:latin typeface="Inter"/>
              </a:rPr>
              <a:t>Core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04872.0" y="2450592.0"/>
            <a:ext cx="3689604.0" cy="1677924.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094476.0" y="2450592.0"/>
            <a:ext cx="3689604.0" cy="1677924.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2404872.0" y="4128516.0"/>
            <a:ext cx="3689604.0" cy="1677924.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6094476.0" y="4128516.0"/>
            <a:ext cx="3689604.0" cy="1677924.0"/>
          </a:xfrm>
          <a:prstGeom prst="line">
            <a:avLst/>
          </a:prstGeom>
          <a:ln w="190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307592" y="1764792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1E2A3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2039112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Financial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764792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1E2A3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039112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Planning &amp;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07592" y="512064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1E2A3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4752" y="539496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Logistics &amp;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Tracking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5120640"/>
            <a:ext cx="2194560" cy="1371600"/>
          </a:xfrm>
          <a:prstGeom prst="roundRect">
            <a:avLst>
              <a:gd name="adj" fmla="val 6000"/>
            </a:avLst>
          </a:prstGeom>
          <a:solidFill>
            <a:srgbClr val="1E2A35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5394960"/>
            <a:ext cx="1920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Procurement &amp;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Quality</a:t>
            </a:r>
          </a:p>
        </p:txBody>
      </p:sp>
      <p:sp>
        <p:nvSpPr>
          <p:cNvPr id="18" name="Oval 17"/>
          <p:cNvSpPr/>
          <p:nvPr/>
        </p:nvSpPr>
        <p:spPr>
          <a:xfrm>
            <a:off x="5225796" y="3602736"/>
            <a:ext cx="17373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25796" y="3694176"/>
            <a:ext cx="17373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31921"/>
                </a:solidFill>
                <a:latin typeface="Inter"/>
              </a:rPr>
              <a:t>SCAIT</a:t>
            </a:r>
          </a:p>
          <a:p>
            <a:pPr algn="ctr"/>
            <a:r>
              <a:rPr sz="1400" b="1">
                <a:solidFill>
                  <a:srgbClr val="131921"/>
                </a:solidFill>
                <a:latin typeface="Inter"/>
              </a:rPr>
              <a:t>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804672"/>
            <a:ext cx="1067104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Inter"/>
              </a:rPr>
              <a:t>Efficiency is no longer an option.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2606040"/>
            <a:ext cx="3557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Inter"/>
              </a:rPr>
              <a:t>80%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3657600"/>
            <a:ext cx="35570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D1D5DB"/>
                </a:solidFill>
                <a:latin typeface="Inter"/>
              </a:rPr>
              <a:t>reduction in manual</a:t>
            </a:r>
          </a:p>
          <a:p>
            <a:pPr algn="ctr"/>
            <a:r>
              <a:rPr sz="1400">
                <a:solidFill>
                  <a:srgbClr val="D1D5DB"/>
                </a:solidFill>
                <a:latin typeface="Inter"/>
              </a:rPr>
              <a:t>communication.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5968" y="2606040"/>
            <a:ext cx="3557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Inter"/>
              </a:rPr>
              <a:t>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15968" y="3657600"/>
            <a:ext cx="35570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D1D5DB"/>
                </a:solidFill>
                <a:latin typeface="Inter"/>
              </a:rPr>
              <a:t>audit coverage of all</a:t>
            </a:r>
          </a:p>
          <a:p>
            <a:pPr algn="ctr"/>
            <a:r>
              <a:rPr sz="1400">
                <a:solidFill>
                  <a:srgbClr val="D1D5DB"/>
                </a:solidFill>
                <a:latin typeface="Inter"/>
              </a:rPr>
              <a:t>financial transactions.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72984" y="2606040"/>
            <a:ext cx="35570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Inter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72984" y="3657600"/>
            <a:ext cx="355701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D1D5DB"/>
                </a:solidFill>
                <a:latin typeface="Inter"/>
              </a:rPr>
              <a:t>missed deviations in</a:t>
            </a:r>
          </a:p>
          <a:p>
            <a:pPr algn="ctr"/>
            <a:r>
              <a:rPr sz="1400">
                <a:solidFill>
                  <a:srgbClr val="D1D5DB"/>
                </a:solidFill>
                <a:latin typeface="Inter"/>
              </a:rPr>
              <a:t>the supply chain.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9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1097280"/>
            <a:ext cx="106710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Inter"/>
              </a:rPr>
              <a:t>Let's build the future of your supply chain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920240"/>
            <a:ext cx="1067104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1D5DB"/>
                </a:solidFill>
                <a:latin typeface="Inter"/>
              </a:rPr>
              <a:t>Click the link above to schedule a 20-minute session.
We will define your automation roadmap and identify your most immediate ROI opportunities.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3017520"/>
            <a:ext cx="10671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1D5DB"/>
                </a:solidFill>
                <a:latin typeface="Inter"/>
              </a:rPr>
              <a:t>Artem Stepanenko | CEO/Founder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3364992"/>
            <a:ext cx="10671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9900"/>
                </a:solidFill>
                <a:latin typeface="Inter"/>
              </a:rPr>
              <a:t>Email: artem@scait.space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712464"/>
            <a:ext cx="10671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1D5DB"/>
                </a:solidFill>
                <a:latin typeface="Inter"/>
              </a:rPr>
              <a:t>Phone: +380686868880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4059936"/>
            <a:ext cx="10671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9900"/>
                </a:solidFill>
                <a:latin typeface="Inter"/>
              </a:rPr>
              <a:t>www.scait.space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4407408"/>
            <a:ext cx="106710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1D5DB"/>
                </a:solidFill>
                <a:latin typeface="Inter"/>
              </a:rPr>
              <a:t>https://calendly.com/artem-scait/30min/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